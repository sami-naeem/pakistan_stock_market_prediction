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5143500" cy="9144000"/>
  <p:embeddedFontLst>
    <p:embeddedFont>
      <p:font typeface="Helvetica Neue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324FB9-6E4B-4DD7-8FDB-830FE74FDE4C}">
  <a:tblStyle styleId="{56324FB9-6E4B-4DD7-8FDB-830FE74FDE4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CEBBEB3-1F5F-47D7-8241-D83C47ECABA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HelveticaNeue-regular.fntdata"/><Relationship Id="rId21" Type="http://schemas.openxmlformats.org/officeDocument/2006/relationships/slide" Target="slides/slide16.xml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c57cf5932c_1_4:notes"/>
          <p:cNvSpPr txBox="1"/>
          <p:nvPr>
            <p:ph idx="1" type="body"/>
          </p:nvPr>
        </p:nvSpPr>
        <p:spPr>
          <a:xfrm>
            <a:off x="685800" y="3251200"/>
            <a:ext cx="5486400" cy="308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3c57cf5932c_1_4:notes"/>
          <p:cNvSpPr/>
          <p:nvPr>
            <p:ph idx="2" type="sldImg"/>
          </p:nvPr>
        </p:nvSpPr>
        <p:spPr>
          <a:xfrm>
            <a:off x="2143125" y="512763"/>
            <a:ext cx="25719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c57cf5932c_1_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g3c57cf5932c_1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c57cf5932c_1_1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57cf5932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c57cf5932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c57cf5932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57cf5932c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c57cf5932c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c57cf5932c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57cf5932c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c57cf5932c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c57cf5932c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57cf5932c_1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c57cf5932c_1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c57cf5932c_1_2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57cf5932c_1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c57cf5932c_1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c57cf5932c_1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57cf5932c_1_101:notes"/>
          <p:cNvSpPr txBox="1"/>
          <p:nvPr>
            <p:ph idx="1" type="body"/>
          </p:nvPr>
        </p:nvSpPr>
        <p:spPr>
          <a:xfrm>
            <a:off x="685800" y="3251200"/>
            <a:ext cx="5486400" cy="308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c57cf5932c_1_101:notes"/>
          <p:cNvSpPr/>
          <p:nvPr>
            <p:ph idx="2" type="sldImg"/>
          </p:nvPr>
        </p:nvSpPr>
        <p:spPr>
          <a:xfrm>
            <a:off x="2143125" y="512763"/>
            <a:ext cx="25719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c57cf5932c_1_285:notes"/>
          <p:cNvSpPr txBox="1"/>
          <p:nvPr>
            <p:ph idx="1" type="body"/>
          </p:nvPr>
        </p:nvSpPr>
        <p:spPr>
          <a:xfrm>
            <a:off x="685800" y="3251200"/>
            <a:ext cx="5486400" cy="308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c57cf5932c_1_285:notes"/>
          <p:cNvSpPr/>
          <p:nvPr>
            <p:ph idx="2" type="sldImg"/>
          </p:nvPr>
        </p:nvSpPr>
        <p:spPr>
          <a:xfrm>
            <a:off x="2143125" y="512763"/>
            <a:ext cx="25719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/>
            </a:lvl1pPr>
            <a:lvl2pPr indent="0" lvl="1" marL="0" algn="r">
              <a:spcBef>
                <a:spcPts val="0"/>
              </a:spcBef>
              <a:buNone/>
              <a:defRPr sz="700"/>
            </a:lvl2pPr>
            <a:lvl3pPr indent="0" lvl="2" marL="0" algn="r">
              <a:spcBef>
                <a:spcPts val="0"/>
              </a:spcBef>
              <a:buNone/>
              <a:defRPr sz="700"/>
            </a:lvl3pPr>
            <a:lvl4pPr indent="0" lvl="3" marL="0" algn="r">
              <a:spcBef>
                <a:spcPts val="0"/>
              </a:spcBef>
              <a:buNone/>
              <a:defRPr sz="700"/>
            </a:lvl4pPr>
            <a:lvl5pPr indent="0" lvl="4" marL="0" algn="r">
              <a:spcBef>
                <a:spcPts val="0"/>
              </a:spcBef>
              <a:buNone/>
              <a:defRPr sz="700"/>
            </a:lvl5pPr>
            <a:lvl6pPr indent="0" lvl="5" marL="0" algn="r">
              <a:spcBef>
                <a:spcPts val="0"/>
              </a:spcBef>
              <a:buNone/>
              <a:defRPr sz="700"/>
            </a:lvl6pPr>
            <a:lvl7pPr indent="0" lvl="6" marL="0" algn="r">
              <a:spcBef>
                <a:spcPts val="0"/>
              </a:spcBef>
              <a:buNone/>
              <a:defRPr sz="700"/>
            </a:lvl7pPr>
            <a:lvl8pPr indent="0" lvl="7" marL="0" algn="r">
              <a:spcBef>
                <a:spcPts val="0"/>
              </a:spcBef>
              <a:buNone/>
              <a:defRPr sz="700"/>
            </a:lvl8pPr>
            <a:lvl9pPr indent="0" lvl="8" marL="0" algn="r">
              <a:spcBef>
                <a:spcPts val="0"/>
              </a:spcBef>
              <a:buNone/>
              <a:defRPr sz="7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133" y="-33225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1" l="0" r="0" t="-9221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1802113" y="2189563"/>
            <a:ext cx="5287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139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Equity </a:t>
            </a:r>
            <a:r>
              <a:rPr b="1" lang="en-US" sz="3500">
                <a:solidFill>
                  <a:schemeClr val="lt1"/>
                </a:solidFill>
              </a:rPr>
              <a:t>Price Forecasting </a:t>
            </a:r>
            <a:endParaRPr sz="700"/>
          </a:p>
        </p:txBody>
      </p:sp>
      <p:sp>
        <p:nvSpPr>
          <p:cNvPr id="21" name="Google Shape;21;p4"/>
          <p:cNvSpPr txBox="1"/>
          <p:nvPr/>
        </p:nvSpPr>
        <p:spPr>
          <a:xfrm>
            <a:off x="869742" y="4155902"/>
            <a:ext cx="1361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8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Ali Mardan​</a:t>
            </a:r>
            <a:br>
              <a:rPr lang="en-US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Sabayna Ali</a:t>
            </a:r>
            <a:endParaRPr sz="1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28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Sami Naeem​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365750" y="777250"/>
            <a:ext cx="8412600" cy="618000"/>
          </a:xfrm>
          <a:prstGeom prst="rect">
            <a:avLst/>
          </a:prstGeom>
          <a:solidFill>
            <a:srgbClr val="1A0A0A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502935" y="858020"/>
            <a:ext cx="8138100" cy="5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 u="sng">
                <a:solidFill>
                  <a:schemeClr val="lt1"/>
                </a:solidFill>
              </a:rPr>
              <a:t>Problem:</a:t>
            </a:r>
            <a:r>
              <a:rPr lang="en-US" sz="1100">
                <a:solidFill>
                  <a:schemeClr val="lt1"/>
                </a:solidFill>
              </a:rPr>
              <a:t> Improve asset allocation decision making by forecasting the 30-day KSE100 market returns. The problem is </a:t>
            </a:r>
            <a:r>
              <a:rPr lang="en-US" sz="1100">
                <a:solidFill>
                  <a:schemeClr val="lt1"/>
                </a:solidFill>
              </a:rPr>
              <a:t>separated</a:t>
            </a:r>
            <a:r>
              <a:rPr lang="en-US" sz="1100">
                <a:solidFill>
                  <a:schemeClr val="lt1"/>
                </a:solidFill>
              </a:rPr>
              <a:t> into a </a:t>
            </a:r>
            <a:r>
              <a:rPr b="1" lang="en-US" sz="1100">
                <a:solidFill>
                  <a:schemeClr val="lt1"/>
                </a:solidFill>
              </a:rPr>
              <a:t>signal engine</a:t>
            </a:r>
            <a:r>
              <a:rPr lang="en-US" sz="1100">
                <a:solidFill>
                  <a:schemeClr val="lt1"/>
                </a:solidFill>
              </a:rPr>
              <a:t> for mean trajectory prediction and a </a:t>
            </a:r>
            <a:r>
              <a:rPr b="1" lang="en-US" sz="1100">
                <a:solidFill>
                  <a:schemeClr val="lt1"/>
                </a:solidFill>
              </a:rPr>
              <a:t>risk engine</a:t>
            </a:r>
            <a:r>
              <a:rPr lang="en-US" sz="1100">
                <a:solidFill>
                  <a:schemeClr val="lt1"/>
                </a:solidFill>
              </a:rPr>
              <a:t> for variance bounds. 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365825" y="3110773"/>
            <a:ext cx="4023300" cy="1869000"/>
          </a:xfrm>
          <a:prstGeom prst="rect">
            <a:avLst/>
          </a:prstGeom>
          <a:solidFill>
            <a:srgbClr val="1F2937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365825" y="3110773"/>
            <a:ext cx="4023300" cy="380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57265" y="3124619"/>
            <a:ext cx="384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⚡ Signal Engine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457265" y="3546915"/>
            <a:ext cx="38406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Mean Trajectory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548705" y="3837676"/>
            <a:ext cx="36576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Captures </a:t>
            </a:r>
            <a:r>
              <a:rPr lang="en-US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mean</a:t>
            </a: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price using </a:t>
            </a:r>
            <a:r>
              <a:rPr lang="en-US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linear and </a:t>
            </a: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deep learning </a:t>
            </a:r>
            <a:r>
              <a:rPr lang="en-US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4754950" y="3110726"/>
            <a:ext cx="4023300" cy="1869000"/>
          </a:xfrm>
          <a:prstGeom prst="rect">
            <a:avLst/>
          </a:prstGeom>
          <a:solidFill>
            <a:srgbClr val="1F2937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4754950" y="3110726"/>
            <a:ext cx="4023300" cy="38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4846390" y="3124572"/>
            <a:ext cx="384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🛡 Risk Engine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4846390" y="3546868"/>
            <a:ext cx="38406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Variance Bounds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4937830" y="3837629"/>
            <a:ext cx="36576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Models structural fat-tailed market shocks using GARCH(1,1) applied to </a:t>
            </a:r>
            <a:r>
              <a:rPr lang="en-US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 </a:t>
            </a: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residuals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5"/>
          <p:cNvCxnSpPr/>
          <p:nvPr/>
        </p:nvCxnSpPr>
        <p:spPr>
          <a:xfrm>
            <a:off x="4407473" y="4079977"/>
            <a:ext cx="329100" cy="0"/>
          </a:xfrm>
          <a:prstGeom prst="straightConnector1">
            <a:avLst/>
          </a:prstGeom>
          <a:noFill/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5"/>
          <p:cNvSpPr/>
          <p:nvPr/>
        </p:nvSpPr>
        <p:spPr>
          <a:xfrm>
            <a:off x="4325215" y="3951934"/>
            <a:ext cx="3291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365750" y="1521463"/>
            <a:ext cx="8412600" cy="1301400"/>
          </a:xfrm>
          <a:prstGeom prst="rect">
            <a:avLst/>
          </a:prstGeom>
          <a:solidFill>
            <a:srgbClr val="1A0A0A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02935" y="1675082"/>
            <a:ext cx="81381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50"/>
              <a:buFont typeface="Calibri"/>
              <a:buNone/>
            </a:pPr>
            <a:r>
              <a:rPr lang="en-US" sz="1100" u="sng">
                <a:solidFill>
                  <a:schemeClr val="lt1"/>
                </a:solidFill>
              </a:rPr>
              <a:t>Hypothesis:</a:t>
            </a:r>
            <a:endParaRPr sz="1100" u="sng">
              <a:solidFill>
                <a:schemeClr val="lt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Extreme values represent meaningful information like market shocks and volatility spikes 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Features may have high correlation 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Past data can be used to predict future prices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Market regimes and events need to be accounted for to reliably model prices 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US" sz="1100">
                <a:solidFill>
                  <a:schemeClr val="lt1"/>
                </a:solidFill>
              </a:rPr>
              <a:t>Feature engineering like momentum and volatility, and lagged variables will improve the model forecasting results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DATA &amp; FEATURE ENGINEERING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365753" y="890240"/>
            <a:ext cx="2651700" cy="18288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457192" y="1002955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Auto-Regressive Returns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457025" y="1473462"/>
            <a:ext cx="24690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 return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One-day lagged return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Two-day lagged return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Three-day lagged return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Five-day lagged return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Ten-day lagged return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3154755" y="871078"/>
            <a:ext cx="2651700" cy="18288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3291745" y="1002955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Volatility &amp; Drawdown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6035033" y="890240"/>
            <a:ext cx="2651700" cy="18288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6126298" y="1002955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Momentum &amp; Oscillators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365755" y="3022290"/>
            <a:ext cx="2651700" cy="18288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457195" y="3148318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Event &amp; Holidays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3200395" y="3022315"/>
            <a:ext cx="2651700" cy="18288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3291760" y="3140405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Cross Market &amp; Macro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3114026" y="1517300"/>
            <a:ext cx="25605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Number of trading days since highest close (past 63 trading days)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Number of trading days since highest close (past 252 trading days)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True Range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6126475" y="1546112"/>
            <a:ext cx="24690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Relative Strength Index overbought indicator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Relative Strength Index oversold indicator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Moving Average Convergence Divergence histogram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3259750" y="3624775"/>
            <a:ext cx="26070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S&amp;P 500 log return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Emerging Markets ETF log return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Vanguard FTSE Developed Market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ETF log return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Change in the VIX volatility index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U.S. dollar to Rupee log return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Annual GDP Growth Rate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57200" y="3558337"/>
            <a:ext cx="24690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Post-holiday indicator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International Monetary Fund event indicator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Three-day International Monetary Fund event window indicator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6035045" y="3022290"/>
            <a:ext cx="2651700" cy="18288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6126410" y="3140380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Interest Rate Dynamics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6094400" y="3624762"/>
            <a:ext cx="24690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5-day change in the Karachi Interbank Offered Rate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20-day change in the Karachi Interbank Offered Rate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DATA PROPERTIES</a:t>
            </a:r>
            <a:r>
              <a:rPr b="1" lang="en-US" sz="22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: Non-Stationarity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7" title="eda_02_stationar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025" y="548649"/>
            <a:ext cx="7835899" cy="351242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/>
          <p:nvPr/>
        </p:nvSpPr>
        <p:spPr>
          <a:xfrm>
            <a:off x="320090" y="4131715"/>
            <a:ext cx="8503800" cy="5943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Raw prices trend upward, </a:t>
            </a: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violating</a:t>
            </a: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stationarity assumptions. Log-returns oscillate around zero and pass ADF test, making it suitable as model target.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DATA PROPERTIES</a:t>
            </a:r>
            <a:r>
              <a:rPr b="1" lang="en-US" sz="22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: Volatility Clustering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320090" y="4206290"/>
            <a:ext cx="8503800" cy="5943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Turbulent periods cluster together and persist for weeks. GARCH(1,1) exploits this structure to model dynamic risk bounds.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8" title="eda_04_volatility_cluster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850" y="578150"/>
            <a:ext cx="7696200" cy="3517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DATA PROPERTIES</a:t>
            </a:r>
            <a:r>
              <a:rPr b="1" lang="en-US" sz="22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: Fat Tails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320090" y="4142740"/>
            <a:ext cx="8503800" cy="5943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Excess kurtosis = 7.65 vs normal = 0. Severe shocks occur far more frequently than Gaussian models predict, motivates Student-T GARCH.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9" title="eda_03_fat_tai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00" y="792600"/>
            <a:ext cx="8229601" cy="319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lang="en-US" sz="22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ATA</a:t>
            </a:r>
            <a:r>
              <a:rPr b="1" i="0" lang="en-US" sz="2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2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CLEANING </a:t>
            </a:r>
            <a:r>
              <a:rPr b="1" i="0" lang="en-US" sz="2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&amp; TRANSFORMATIONS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320040" y="777240"/>
            <a:ext cx="2651700" cy="18288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320040" y="822960"/>
            <a:ext cx="265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〜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411305" y="1239505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Anomaly</a:t>
            </a:r>
            <a:r>
              <a:rPr b="1" lang="en-US" sz="13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11480" y="1691640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Anomalies</a:t>
            </a: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retained since extreme readings reflect market shocks and volatility spikes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3154680" y="777240"/>
            <a:ext cx="2651700" cy="18288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"/>
          <p:cNvSpPr/>
          <p:nvPr/>
        </p:nvSpPr>
        <p:spPr>
          <a:xfrm>
            <a:off x="3154680" y="822960"/>
            <a:ext cx="265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◼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3246032" y="1212905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Data Cleansing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3246120" y="1691640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Missing rows of data dropped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VIF test used to remove features with high multicollinearity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 Correlation Pair Filtering </a:t>
            </a: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used to remove similar features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5989320" y="777240"/>
            <a:ext cx="2651700" cy="18288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"/>
          <p:cNvSpPr/>
          <p:nvPr/>
        </p:nvSpPr>
        <p:spPr>
          <a:xfrm>
            <a:off x="5989320" y="822960"/>
            <a:ext cx="265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6080760" y="1239505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Fat Tails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6080760" y="1691640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Severe sudden shocks occur far more frequently than Gaussian models predict, requiring Student-T GARCH.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320040" y="2788920"/>
            <a:ext cx="8503800" cy="1051500"/>
          </a:xfrm>
          <a:prstGeom prst="rect">
            <a:avLst/>
          </a:prstGeom>
          <a:solidFill>
            <a:srgbClr val="1F2937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"/>
          <p:cNvSpPr/>
          <p:nvPr/>
        </p:nvSpPr>
        <p:spPr>
          <a:xfrm>
            <a:off x="502920" y="2834640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KEY TRANSFORMATION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502920" y="3127248"/>
            <a:ext cx="5029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Log-Return Sequence:   yₜ = ln(Pₜ / Pₜ₋₁)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502920" y="3493008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Eliminates data leakage, forces prediction of actual daily magnitude &amp; direction, achieves stationarity.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320040" y="3977640"/>
            <a:ext cx="8503800" cy="5943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502920" y="4041648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In-Sample Training  →  Strict Out-of-Sample 30-Day Evaluation  |  No data leakage across partition boundary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MODEL ARCHITECTURES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320040" y="731520"/>
            <a:ext cx="5486400" cy="347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"/>
          <p:cNvSpPr/>
          <p:nvPr/>
        </p:nvSpPr>
        <p:spPr>
          <a:xfrm>
            <a:off x="320040" y="717870"/>
            <a:ext cx="548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SIGNAL (MEAN) ENGINE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2286400" y="1133900"/>
            <a:ext cx="1694700" cy="17373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"/>
          <p:cNvSpPr/>
          <p:nvPr/>
        </p:nvSpPr>
        <p:spPr>
          <a:xfrm>
            <a:off x="2286400" y="1133900"/>
            <a:ext cx="66000" cy="17373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/>
          <p:cNvSpPr/>
          <p:nvPr/>
        </p:nvSpPr>
        <p:spPr>
          <a:xfrm>
            <a:off x="2474695" y="1179619"/>
            <a:ext cx="1459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PyTorch Mamba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2474695" y="1499655"/>
            <a:ext cx="1459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d_model=16, epochs=20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2474695" y="1819691"/>
            <a:ext cx="14595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Needs heavy regularization; highest directional accuracy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4160525" y="1133900"/>
            <a:ext cx="1603800" cy="17373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"/>
          <p:cNvSpPr/>
          <p:nvPr/>
        </p:nvSpPr>
        <p:spPr>
          <a:xfrm>
            <a:off x="4160525" y="1133900"/>
            <a:ext cx="62400" cy="17373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"/>
          <p:cNvSpPr/>
          <p:nvPr/>
        </p:nvSpPr>
        <p:spPr>
          <a:xfrm>
            <a:off x="4338714" y="1179619"/>
            <a:ext cx="1381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TimeGPT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4338714" y="1499655"/>
            <a:ext cx="1381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Zero-Shot &amp; Fine-Tuned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4338714" y="1819691"/>
            <a:ext cx="1381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 compute overhead; native conformal bounds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6035040" y="731520"/>
            <a:ext cx="27889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"/>
          <p:cNvSpPr/>
          <p:nvPr/>
        </p:nvSpPr>
        <p:spPr>
          <a:xfrm>
            <a:off x="6035040" y="731520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RISK (VARIANCE) ENGINE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6035040" y="1143000"/>
            <a:ext cx="1298448" cy="173736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1"/>
          <p:cNvSpPr/>
          <p:nvPr/>
        </p:nvSpPr>
        <p:spPr>
          <a:xfrm>
            <a:off x="6108192" y="1207008"/>
            <a:ext cx="11612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en-US" sz="11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ean Model Prediction Interval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6108192" y="1737360"/>
            <a:ext cx="116128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Epistemic only — collapses OOS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7452360" y="1143000"/>
            <a:ext cx="1298448" cy="173736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"/>
          <p:cNvSpPr/>
          <p:nvPr/>
        </p:nvSpPr>
        <p:spPr>
          <a:xfrm>
            <a:off x="7525512" y="1207008"/>
            <a:ext cx="11612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GARCH(1,1)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Student-T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7525512" y="1737360"/>
            <a:ext cx="116128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Fat-tailed aleatoric — dynamically scales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7278624" y="1783080"/>
            <a:ext cx="228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320040" y="3063240"/>
            <a:ext cx="8503920" cy="15087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502920" y="312724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FEATURE ENGINEERING BRIDGE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502920" y="3456432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Feed historical log-return sequences into Signal Engine architectures</a:t>
            </a:r>
            <a:b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Extract in-sample prediction residuals (errors) from Mamba/LSTM</a:t>
            </a:r>
            <a:b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Feed residuals into GARCH engine to model true structural market shocks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367650" y="1133888"/>
            <a:ext cx="1740000" cy="17373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"/>
          <p:cNvSpPr/>
          <p:nvPr/>
        </p:nvSpPr>
        <p:spPr>
          <a:xfrm>
            <a:off x="367650" y="1133900"/>
            <a:ext cx="96900" cy="17373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"/>
          <p:cNvSpPr/>
          <p:nvPr/>
        </p:nvSpPr>
        <p:spPr>
          <a:xfrm>
            <a:off x="536058" y="1170382"/>
            <a:ext cx="11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SARIMAX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536038" y="1499575"/>
            <a:ext cx="1254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Captures autoregressive, trend, and external-driver effects, but less reliable for sudden regime changes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QUANTITATIVE RESULTS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365760" y="475458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Mean Engine Performance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0" name="Google Shape;170;p12"/>
          <p:cNvGraphicFramePr/>
          <p:nvPr/>
        </p:nvGraphicFramePr>
        <p:xfrm>
          <a:off x="320015" y="7315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{56324FB9-6E4B-4DD7-8FDB-830FE74FDE4C}</a:tableStyleId>
              </a:tblPr>
              <a:tblGrid>
                <a:gridCol w="1920250"/>
                <a:gridCol w="1188725"/>
                <a:gridCol w="1188725"/>
                <a:gridCol w="1188725"/>
                <a:gridCol w="1188725"/>
                <a:gridCol w="18288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SMAPE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RMSE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Dir. Accuracy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SARIMAX</a:t>
                      </a:r>
                      <a:endParaRPr sz="1200" u="none" cap="none" strike="noStrike">
                        <a:solidFill>
                          <a:srgbClr val="9CA3A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3.52%</a:t>
                      </a:r>
                      <a:endParaRPr sz="1200" u="none" cap="none" strike="noStrike">
                        <a:solidFill>
                          <a:srgbClr val="9CA3A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3.45%</a:t>
                      </a:r>
                      <a:endParaRPr sz="1200" u="none" cap="none" strike="noStrike">
                        <a:solidFill>
                          <a:srgbClr val="9CA3A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5641</a:t>
                      </a:r>
                      <a:endParaRPr sz="1200" u="none" cap="none" strike="noStrike">
                        <a:solidFill>
                          <a:srgbClr val="9CA3A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6204</a:t>
                      </a:r>
                      <a:endParaRPr sz="1200" u="none" cap="none" strike="noStrike">
                        <a:solidFill>
                          <a:srgbClr val="9CA3A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67.78%</a:t>
                      </a:r>
                      <a:endParaRPr sz="1200" u="none" cap="none" strike="noStrike">
                        <a:solidFill>
                          <a:srgbClr val="EF444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D4A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D4A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PyTorch Mamba ★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D4A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D4A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2.35%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D4A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D4A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2.32%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D4A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D4A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3,787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D4A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D4A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4,305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D4A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D4A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53.33%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A1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TimeGPT Zero-Shot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2.74%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2.70%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4,406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4,952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43.33%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TimeGPT Fine-Tuned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2.90%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2.85%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4,658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5,212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43.33%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171" name="Google Shape;171;p12"/>
          <p:cNvSpPr/>
          <p:nvPr/>
        </p:nvSpPr>
        <p:spPr>
          <a:xfrm>
            <a:off x="365760" y="2747790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Variance Engine — Hybrid GARCH Coverage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2" name="Google Shape;172;p12"/>
          <p:cNvGraphicFramePr/>
          <p:nvPr/>
        </p:nvGraphicFramePr>
        <p:xfrm>
          <a:off x="320040" y="30402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{56324FB9-6E4B-4DD7-8FDB-830FE74FDE4C}</a:tableStyleId>
              </a:tblPr>
              <a:tblGrid>
                <a:gridCol w="1920250"/>
                <a:gridCol w="1737350"/>
                <a:gridCol w="1737350"/>
                <a:gridCol w="1554475"/>
                <a:gridCol w="1554475"/>
              </a:tblGrid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Coverage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Hybrid Coverage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MPIW (Width)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Winkler Score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SARIMAX</a:t>
                      </a:r>
                      <a:endParaRPr sz="1200" u="none" cap="none" strike="noStrike">
                        <a:solidFill>
                          <a:srgbClr val="9CA3A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98.89%</a:t>
                      </a:r>
                      <a:endParaRPr sz="1200" u="none" cap="none" strike="noStrike">
                        <a:solidFill>
                          <a:srgbClr val="EF444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F4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200" u="none" cap="none" strike="noStrike">
                        <a:solidFill>
                          <a:srgbClr val="EF444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85479</a:t>
                      </a:r>
                      <a:endParaRPr sz="1200" u="none" cap="none" strike="noStrike">
                        <a:solidFill>
                          <a:srgbClr val="9CA3A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85490</a:t>
                      </a:r>
                      <a:endParaRPr sz="1200" u="none" cap="none" strike="noStrike">
                        <a:solidFill>
                          <a:srgbClr val="9CA3A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D4A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D4A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PyTorch Mamba ★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56.67%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D4A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D4A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76.67%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D4A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D4A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12,953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D4A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D4A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19,192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A1A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TimeGPT Zero-Shot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70.00%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14,417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20,796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TimeGPT Fine-Tuned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59E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60.00%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13,372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21,110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D374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173" name="Google Shape;173;p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★ Mamba achieves lowest MAPE (2.35%) and highest directional accuracy (53.33%) among all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/>
          <p:cNvSpPr/>
          <p:nvPr/>
        </p:nvSpPr>
        <p:spPr>
          <a:xfrm>
            <a:off x="365760" y="914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SARIMAX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"/>
          <p:cNvSpPr/>
          <p:nvPr/>
        </p:nvSpPr>
        <p:spPr>
          <a:xfrm>
            <a:off x="365760" y="4617720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50"/>
              <a:buFont typeface="Calibri"/>
              <a:buNone/>
            </a:pPr>
            <a:r>
              <a:rPr lang="en-US" sz="12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Baseline Coverage: </a:t>
            </a:r>
            <a:r>
              <a:rPr lang="en-US" sz="12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98.89% | </a:t>
            </a:r>
            <a:r>
              <a:rPr lang="en-US" sz="115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The model's baseline coverage is too wide making the results not very useful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150" y="746825"/>
            <a:ext cx="6922737" cy="36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"/>
          <p:cNvSpPr/>
          <p:nvPr/>
        </p:nvSpPr>
        <p:spPr>
          <a:xfrm>
            <a:off x="365760" y="914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PYTORCH MAMBA — GARCH Hybrid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6766560" y="137160"/>
            <a:ext cx="2011680" cy="347472"/>
          </a:xfrm>
          <a:prstGeom prst="rect">
            <a:avLst/>
          </a:prstGeom>
          <a:solidFill>
            <a:srgbClr val="0D2A1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"/>
          <p:cNvSpPr/>
          <p:nvPr/>
        </p:nvSpPr>
        <p:spPr>
          <a:xfrm>
            <a:off x="6766560" y="13716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★ Best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yTorch_Mamba_GARCH_Hybrid.png" id="194" name="Google Shape;1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685800"/>
            <a:ext cx="859536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4"/>
          <p:cNvSpPr/>
          <p:nvPr/>
        </p:nvSpPr>
        <p:spPr>
          <a:xfrm>
            <a:off x="365760" y="461772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Coverage: 76.67%  |  </a:t>
            </a:r>
            <a:r>
              <a:rPr b="0" i="0" lang="en-US" sz="11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The red base interval (dropout) collapses linearly. The purple GARCH overlay correctly explodes into fat tails when sensing high residual velocity.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TIMEGPT — Zero-Shot vs Fine-Tuned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274320" y="6858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Zero-Shot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TimeGPT_Zero-Shot.png" id="205" name="Google Shape;2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" y="960120"/>
            <a:ext cx="438912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5"/>
          <p:cNvSpPr/>
          <p:nvPr/>
        </p:nvSpPr>
        <p:spPr>
          <a:xfrm>
            <a:off x="4572000" y="6858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Fine-Tuned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TimeGPT_Fine-Tuned.png" id="207" name="Google Shape;2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960120"/>
            <a:ext cx="4389120" cy="31089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15"/>
          <p:cNvCxnSpPr/>
          <p:nvPr/>
        </p:nvCxnSpPr>
        <p:spPr>
          <a:xfrm>
            <a:off x="4572000" y="1005840"/>
            <a:ext cx="0" cy="3017520"/>
          </a:xfrm>
          <a:prstGeom prst="straightConnector1">
            <a:avLst/>
          </a:prstGeom>
          <a:noFill/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15"/>
          <p:cNvSpPr/>
          <p:nvPr/>
        </p:nvSpPr>
        <p:spPr>
          <a:xfrm>
            <a:off x="137160" y="4160520"/>
            <a:ext cx="8869680" cy="6400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5"/>
          <p:cNvSpPr/>
          <p:nvPr/>
        </p:nvSpPr>
        <p:spPr>
          <a:xfrm>
            <a:off x="274320" y="42062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Coverage: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274320" y="446227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ZS: 70.00%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Zero-Shot outperforms Fine-Tuned on coverage (70% vs 60%) — native conformal bounds are robust without additional GARCH overlay.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5"/>
          <p:cNvSpPr/>
          <p:nvPr/>
        </p:nvSpPr>
        <p:spPr>
          <a:xfrm>
            <a:off x="2264920" y="4480547"/>
            <a:ext cx="128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why not garch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TRADING STRATEGY &amp; IMPLEMENTATION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320040" y="749808"/>
            <a:ext cx="8503920" cy="749808"/>
          </a:xfrm>
          <a:prstGeom prst="rect">
            <a:avLst/>
          </a:prstGeom>
          <a:solidFill>
            <a:srgbClr val="0D2A1A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6"/>
          <p:cNvSpPr/>
          <p:nvPr/>
        </p:nvSpPr>
        <p:spPr>
          <a:xfrm>
            <a:off x="502920" y="80467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rPr>
              <a:t>CRUCIAL FINDING: MC Dropout intervals are an illusion — they collapse out-of-sample. GARCH intervals correctly capture aleatoric risk, boosting Mamba's coverage from 56.67% → 76.67%.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320040" y="1664208"/>
            <a:ext cx="4023360" cy="2331720"/>
          </a:xfrm>
          <a:prstGeom prst="rect">
            <a:avLst/>
          </a:prstGeom>
          <a:solidFill>
            <a:srgbClr val="1F2937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6"/>
          <p:cNvSpPr/>
          <p:nvPr/>
        </p:nvSpPr>
        <p:spPr>
          <a:xfrm>
            <a:off x="320040" y="1664208"/>
            <a:ext cx="4023360" cy="5943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6"/>
          <p:cNvSpPr/>
          <p:nvPr/>
        </p:nvSpPr>
        <p:spPr>
          <a:xfrm>
            <a:off x="438912" y="1682496"/>
            <a:ext cx="3794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01  Signal: Run Mamba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457200" y="2331720"/>
            <a:ext cx="3749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Use Mamba SSM (or Fine-Tuned TimeGPT) as the primary forward momentum indicator. The mean trajectory provides the directional alpha signal for the trade.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4663440" y="1664208"/>
            <a:ext cx="4023360" cy="2331720"/>
          </a:xfrm>
          <a:prstGeom prst="rect">
            <a:avLst/>
          </a:prstGeom>
          <a:solidFill>
            <a:srgbClr val="1F2937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6"/>
          <p:cNvSpPr/>
          <p:nvPr/>
        </p:nvSpPr>
        <p:spPr>
          <a:xfrm>
            <a:off x="4663440" y="1664208"/>
            <a:ext cx="402336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6"/>
          <p:cNvSpPr/>
          <p:nvPr/>
        </p:nvSpPr>
        <p:spPr>
          <a:xfrm>
            <a:off x="4782312" y="1682496"/>
            <a:ext cx="3794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02  Sizing: GARCH Lower Bound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6"/>
          <p:cNvSpPr/>
          <p:nvPr/>
        </p:nvSpPr>
        <p:spPr>
          <a:xfrm>
            <a:off x="4800600" y="2331720"/>
            <a:ext cx="3749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Size capital allocations NOT on mean distance, but constrained by the GARCH (or TimeGPT conformal) Lower Confidence Bound — calculating maximum potential unrealized drawdown over 30 days.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6"/>
          <p:cNvSpPr/>
          <p:nvPr/>
        </p:nvSpPr>
        <p:spPr>
          <a:xfrm>
            <a:off x="320040" y="4133088"/>
            <a:ext cx="8503920" cy="66751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6"/>
          <p:cNvSpPr/>
          <p:nvPr/>
        </p:nvSpPr>
        <p:spPr>
          <a:xfrm>
            <a:off x="502920" y="418795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Decoupled Architecture Advantage: Deep learning hyper-specializes on structural pattern matching → Statistical engine handles rigorous risk management. Each engine does what it does best.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7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FUTURE WORK &amp; SCALING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320040" y="777240"/>
            <a:ext cx="2651760" cy="3017520"/>
          </a:xfrm>
          <a:prstGeom prst="rect">
            <a:avLst/>
          </a:prstGeom>
          <a:solidFill>
            <a:srgbClr val="1F2937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7"/>
          <p:cNvSpPr/>
          <p:nvPr/>
        </p:nvSpPr>
        <p:spPr>
          <a:xfrm>
            <a:off x="320040" y="777240"/>
            <a:ext cx="2651760" cy="56692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411480" y="795528"/>
            <a:ext cx="24871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↑  GARCH-X Integration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438912" y="1417320"/>
            <a:ext cx="2423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Upgrade the variance engine to include exogenous variables (KSE100 trading volume) to predict volatility shocks faster — GARCH-X with external regressors.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3154680" y="777240"/>
            <a:ext cx="2651760" cy="3017520"/>
          </a:xfrm>
          <a:prstGeom prst="rect">
            <a:avLst/>
          </a:prstGeom>
          <a:solidFill>
            <a:srgbClr val="1F2937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3154680" y="777240"/>
            <a:ext cx="265176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7"/>
          <p:cNvSpPr/>
          <p:nvPr/>
        </p:nvSpPr>
        <p:spPr>
          <a:xfrm>
            <a:off x="3246120" y="795528"/>
            <a:ext cx="24871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⚙  Hyperparameter Optimization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3273552" y="1417320"/>
            <a:ext cx="2423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will further tune the Student-T degrees of freedom within GARCH to push Mamba's 76.67% coverage toward the absolute 90% target via Bayesian optimization. This ensures we precisely capture those extreme fat tails without making the daily intervals unnecessarily wide.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5989320" y="777240"/>
            <a:ext cx="2651760" cy="3017520"/>
          </a:xfrm>
          <a:prstGeom prst="rect">
            <a:avLst/>
          </a:prstGeom>
          <a:solidFill>
            <a:srgbClr val="1F2937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7"/>
          <p:cNvSpPr/>
          <p:nvPr/>
        </p:nvSpPr>
        <p:spPr>
          <a:xfrm>
            <a:off x="5989320" y="777240"/>
            <a:ext cx="2651760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"/>
          <p:cNvSpPr/>
          <p:nvPr/>
        </p:nvSpPr>
        <p:spPr>
          <a:xfrm>
            <a:off x="6080760" y="795528"/>
            <a:ext cx="24871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⬡  Multi-Asset Expansion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6108192" y="1417320"/>
            <a:ext cx="2423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Extend the Two-Engine (Mamba + GARCH) pipeline to other equities. Test automated paper trading to measure slippage and transaction costs on the 30-day horizon.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320040" y="3950208"/>
            <a:ext cx="8503920" cy="594360"/>
          </a:xfrm>
          <a:prstGeom prst="rect">
            <a:avLst/>
          </a:prstGeom>
          <a:solidFill>
            <a:srgbClr val="1A0D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"/>
          <p:cNvSpPr/>
          <p:nvPr/>
        </p:nvSpPr>
        <p:spPr>
          <a:xfrm>
            <a:off x="502920" y="400507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Coverage Target: Push hybrid Mamba+GARCH from 76.67%  →  90.00%  through GARCH-X and tuned Student-T ν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50A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"/>
          <p:cNvSpPr/>
          <p:nvPr/>
        </p:nvSpPr>
        <p:spPr>
          <a:xfrm>
            <a:off x="365760" y="472744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Two-Engine Architecture  ·  Mamba + GARCH(1,1)  ·  Signal × Risk Decoupled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21" l="0" r="0" t="-9221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2388738" y="1451940"/>
            <a:ext cx="4366500" cy="22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</a:t>
            </a:r>
            <a:endParaRPr sz="7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6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-1925306" y="2912665"/>
            <a:ext cx="4256657" cy="4256657"/>
          </a:xfrm>
          <a:custGeom>
            <a:rect b="b" l="l" r="r" t="t"/>
            <a:pathLst>
              <a:path extrusionOk="0"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8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6812649" y="-2025821"/>
            <a:ext cx="4256657" cy="4256657"/>
          </a:xfrm>
          <a:custGeom>
            <a:rect b="b" l="l" r="r" t="t"/>
            <a:pathLst>
              <a:path extrusionOk="0"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8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19"/>
          <p:cNvGrpSpPr/>
          <p:nvPr/>
        </p:nvGrpSpPr>
        <p:grpSpPr>
          <a:xfrm>
            <a:off x="228600" y="94455"/>
            <a:ext cx="8610638" cy="614363"/>
            <a:chOff x="0" y="-114300"/>
            <a:chExt cx="22961700" cy="1638300"/>
          </a:xfrm>
        </p:grpSpPr>
        <p:sp>
          <p:nvSpPr>
            <p:cNvPr id="270" name="Google Shape;270;p19"/>
            <p:cNvSpPr/>
            <p:nvPr/>
          </p:nvSpPr>
          <p:spPr>
            <a:xfrm>
              <a:off x="0" y="0"/>
              <a:ext cx="22961600" cy="1524000"/>
            </a:xfrm>
            <a:custGeom>
              <a:rect b="b" l="l" r="r" t="t"/>
              <a:pathLst>
                <a:path extrusionOk="0" h="1524000" w="22961600">
                  <a:moveTo>
                    <a:pt x="0" y="0"/>
                  </a:moveTo>
                  <a:lnTo>
                    <a:pt x="22961600" y="0"/>
                  </a:lnTo>
                  <a:lnTo>
                    <a:pt x="22961600" y="1524000"/>
                  </a:lnTo>
                  <a:lnTo>
                    <a:pt x="0" y="15240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3559" l="0" r="0" t="-243571"/>
              </a:stretch>
            </a:blip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9"/>
            <p:cNvSpPr txBox="1"/>
            <p:nvPr/>
          </p:nvSpPr>
          <p:spPr>
            <a:xfrm>
              <a:off x="0" y="-114300"/>
              <a:ext cx="22961700" cy="16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800000"/>
                  </a:solidFill>
                  <a:latin typeface="Calibri"/>
                  <a:ea typeface="Calibri"/>
                  <a:cs typeface="Calibri"/>
                  <a:sym typeface="Calibri"/>
                </a:rPr>
                <a:t>Worked on By:</a:t>
              </a:r>
              <a:endParaRPr sz="700"/>
            </a:p>
          </p:txBody>
        </p:sp>
      </p:grpSp>
      <p:graphicFrame>
        <p:nvGraphicFramePr>
          <p:cNvPr id="272" name="Google Shape;272;p19"/>
          <p:cNvGraphicFramePr/>
          <p:nvPr/>
        </p:nvGraphicFramePr>
        <p:xfrm>
          <a:off x="454125" y="59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{BCEBBEB3-1F5F-47D7-8241-D83C47ECABA9}</a:tableStyleId>
              </a:tblPr>
              <a:tblGrid>
                <a:gridCol w="3619500"/>
                <a:gridCol w="3619500"/>
              </a:tblGrid>
              <a:tr h="37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Task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Team Member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0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 Statement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Ali, Sabayna, Sami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Hypothesis 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Ali, Sabayna, Sami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Exploratory Data Analysis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Ali, Sabayna, Sami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0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processing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Sami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0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 engineering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Sabayna, Sami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0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Models: SARIMAX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Sami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7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Models: Mamba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Sabayna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Models: TimeGPT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Ali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7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Future Work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Ali, Sabayna, Sami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